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7" r:id="rId3"/>
    <p:sldId id="268" r:id="rId4"/>
    <p:sldId id="259" r:id="rId5"/>
    <p:sldId id="260" r:id="rId6"/>
    <p:sldId id="266" r:id="rId7"/>
    <p:sldId id="269" r:id="rId8"/>
    <p:sldId id="270" r:id="rId9"/>
    <p:sldId id="271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7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81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6196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(15s): 'Bom dia/tarde. Meu nome é Renan Santos Ferreira e hoje vou apresentar o Dashboard Sales Insights desenvolvido para o case da Bimbo Brasil. O foco é responder 5 perguntas de negócio sobre performance comercial, canais, margem e market share, usando uma base de vendas de 2023 e 2024.'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Contexto e Objetivo (45s): 'O dashboard foi desenhado para a Controladoria DNA responder 5 perguntas-chave. Mais do que mostrar o que aconteceu, o objetivo foi entregar uma ferramenta que diagnostica CAUSAS e sugere AÇÕES. A estrutura analítica segue a lógica: o que aconteceu → por que aconteceu → o que fazer.'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Abordagem técnica (60s): 'Em termos de dados: trabalhei com uma base sintética de 40 mil registros gerada em Python com Faker, simulando 2 anos de venda. A modelagem seguiu star schema com uma fato e 5 dimensões. Pra responder Market Share, criei uma tabela auxiliar com o mercado estimado por tipo de canal baseado em referências públicas (ABIP, Nielsen). Em termos de design, segui Z-pattern, paleta de 5 cores e validei acessibilidade WCAG AA com axe DevTools — encontrei 4 inconsistências de contraste e ajustei todas.'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Aba 1 - Visão Executiva (90s): 'A primeira aba traz os KPIs macro: receita de R$ 193 milhões em 2024, crescimento de 1,4% em relação a 2023. O volume puxou esse crescimento — mais 2,6% em unidades vendidas. A margem bruta recuou levemente de 47,9% pra 47,5%. Não é um estrago estrutural, mas mostra que o repasse de custo não acompanhou totalmente o crescimento de volume. A aba combina evolução temporal, decomposição YoY com waterfall e uma matriz BCG específica pra margem.'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Aba 2 - Canal/Região (90s): 'Aqui mora o insight mais forte: uma polarização clara dos canais. Varejo — tanto Grande quanto Pequeno Porte — assumiu papel de Estrela, puxando receita e crescimento. Food Service é Vaca Leiteira — estável, previsível. E-commerce é Interrogação, ainda em consolidação. E o Atacado virou Abacaxi: perdeu share e opera com margem entre 33 e 37%, a mais crítica da base. Além da BCG, o heatmap Canal × Região mostra a granularidade regional, e o ranking ajuda a priorizar ações.'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38E76-36FA-8994-1504-D98198215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0B1B74-9A7B-7F48-D07C-A1D6653BB9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402315-259C-2435-785E-D894D99209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Aba 3 - Produto (90s): 'A terceira aba faz drill-down por categoria, marca, linha e SKU. Dois achados principais: Premium é a linha que puxa crescimento, com destaque pra Pães Premium com +6% YoY. Do outro lado, Light é a linha em risco: Torradas Light caiu 8,3% e a combinação Light × Atacado tem margem de 33,3%, a mais baixa de todas as combinações linha × canal. Vale notar também a concentração: a Bisnaga 200g sozinha responde por 14% da receita total. Se perder esse SKU, dói.'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DD9ECE-CE56-9303-2A20-FB22D64399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8732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Achados consolidados (60s): 'Consolidando os 3 achados principais que quero destacar: Um — crescimento com erosão leve de margem. A empresa cresceu, mas perdeu um pouco de rentabilidade em todos os canais. Dois — polarização dos canais: Varejo virou Estrela, Atacado virou Abacaxi. Três — linha Light com problema sistêmico: ruim em crescimento E em margem. Esses 3 achados guiam diretamente as recomendações do próximo slide.'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Recomendações (75s): 'Três ações que saem direto dos achados: Primeira e mais urgente — revisar política comercial. A margem caiu mesmo com crescimento, isso é um sinal. Negociar custo, ou reajustar preço, começando pelo Atacado. Segunda — dobrar aposta no Varejo, onde a tração é clara, e decidir o que fazer com Atacado: reestruturar ou reduzir exposição. Terceira — decisão sobre a linha Light: ou reposiciona, ou descontinua nas combinações mais ruins. Manter SKU que não cresce e dá pouca margem só dilui o portfólio.'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Próximos passos + encerramento (45s): 'Como próximos passos naturais, vejo 3 frentes: integração direta com SAP HANA pra automatizar a carga de dados reais, substituindo a base fictícia; um modelo preditivo simples pra projetar receita e churn — algo que trabalho atualmente no contexto de manutenção, usando XGBoost e SHAP; e alertas automáticos via Power Automate quando métricas cruzam thresholds. Foco nos dois primeiros pra próxima fase. Obrigado pela atenção, à disposição pra perguntas.'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23FBF4E1-C431-D48D-ABDA-07BF9950503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491163" y="6642100"/>
            <a:ext cx="12382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100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content is Internal.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Sales Insights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 err="1">
                <a:solidFill>
                  <a:srgbClr val="C9D4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</a:t>
            </a:r>
            <a:r>
              <a:rPr lang="en-US" sz="1800" i="1" dirty="0">
                <a:solidFill>
                  <a:srgbClr val="C9D4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receita, margem e market share — 2023/2024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3931920"/>
            <a:ext cx="2743200" cy="0"/>
          </a:xfrm>
          <a:prstGeom prst="line">
            <a:avLst/>
          </a:prstGeom>
          <a:noFill/>
          <a:ln w="254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Bimbo Brasil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C9D4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Controladoria DNA</a:t>
            </a:r>
            <a:endParaRPr lang="en-US" sz="14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Renan Santos Ferreira</a:t>
            </a:r>
            <a:endParaRPr lang="en-US" sz="1400" dirty="0"/>
          </a:p>
          <a:p>
            <a:pPr marL="0" indent="0">
              <a:buNone/>
            </a:pPr>
            <a:r>
              <a:rPr lang="en-US" sz="1100" i="1" dirty="0">
                <a:solidFill>
                  <a:srgbClr val="C9D4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de abril de 2026</a:t>
            </a:r>
            <a:endParaRPr lang="en-US" sz="14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7F8C3E2C-78C3-9492-313A-8B66C8D51F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850" y="151561"/>
            <a:ext cx="835491" cy="7628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e Objetivo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 dashboard precisa responder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4754880" cy="361188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8" name="Text 6"/>
          <p:cNvSpPr/>
          <p:nvPr/>
        </p:nvSpPr>
        <p:spPr>
          <a:xfrm>
            <a:off x="777240" y="16916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777240" y="1835972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Controladoria precisa de uma visão de receita, margem, </a:t>
            </a:r>
            <a:r>
              <a:rPr lang="pt-BR" sz="12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</a:t>
            </a:r>
            <a:r>
              <a:rPr lang="pt-BR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crescimento para orientar decisões em 2025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3227292"/>
            <a:ext cx="1371600" cy="0"/>
          </a:xfrm>
          <a:prstGeom prst="line">
            <a:avLst/>
          </a:prstGeom>
          <a:noFill/>
          <a:ln w="254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77240" y="36342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777240" y="3883511"/>
            <a:ext cx="4389120" cy="973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Entregar um dashboard  que </a:t>
            </a:r>
            <a:r>
              <a:rPr lang="en-US" sz="1200" i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mostre</a:t>
            </a: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</a:p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'o que </a:t>
            </a:r>
            <a:r>
              <a:rPr lang="en-US" sz="1200" i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aconteceu</a:t>
            </a: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’</a:t>
            </a:r>
          </a:p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</a:t>
            </a:r>
            <a:r>
              <a:rPr lang="en-US" sz="1200" i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porquê</a:t>
            </a: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’</a:t>
            </a:r>
          </a:p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‘o que fazer'.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0" y="1167205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Perguntas de negócio respondidas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669280" y="1670125"/>
            <a:ext cx="457200" cy="45720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5669280" y="16701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63640" y="1715845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estamos performando vs. o ano anterior (YoY)?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0" y="2447365"/>
            <a:ext cx="457200" cy="45720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5669280" y="244736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63640" y="2493085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Quais canais, regiões e SKUs lideram ou travam o crescimento?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0" y="3224605"/>
            <a:ext cx="457200" cy="45720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5669280" y="322460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63640" y="3270325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 é a margem bruta por linha de produto e canal?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0" y="4001845"/>
            <a:ext cx="457200" cy="45720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5669280" y="400184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63640" y="4047565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estamos ganhando ou perdendo Market Share?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669280" y="4779085"/>
            <a:ext cx="457200" cy="45720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5669280" y="477908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63640" y="4824805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 é a tendência de receita das próximas semanas?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247120" y="6525409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Abordagem Técnica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Dados, modelagem e entregáveis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525780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73152" cy="246888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7724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Dados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011680"/>
            <a:ext cx="4937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40.453 registros de venda (2023-2024)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canais • 8 regiões • 22 SKUs • 200 clientes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Gerada em Python (Faker)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55080" y="1417320"/>
            <a:ext cx="525780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6355080" y="1417320"/>
            <a:ext cx="73152" cy="246888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58368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Modelagem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0" y="2011680"/>
            <a:ext cx="4937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 err="1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Esquema-estrela</a:t>
            </a: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 fVendas como fato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dimensões (Canais, Regiões, Produtos, Clientes, Calendário)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auxiliar </a:t>
            </a:r>
            <a:r>
              <a:rPr lang="en-US" sz="1100" dirty="0" err="1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dMercado</a:t>
            </a: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estimado</a:t>
            </a: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069080"/>
            <a:ext cx="525780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548640" y="4069080"/>
            <a:ext cx="73152" cy="2468880"/>
          </a:xfrm>
          <a:prstGeom prst="rect">
            <a:avLst/>
          </a:prstGeom>
          <a:solidFill>
            <a:srgbClr val="E89B2C"/>
          </a:solidFill>
          <a:ln w="127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77240" y="4251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4663440"/>
            <a:ext cx="4937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Desktop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(geração de base sintética)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axe </a:t>
            </a:r>
            <a:r>
              <a:rPr lang="en-US" sz="1100" dirty="0" err="1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DevTools</a:t>
            </a: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en-US" sz="1100" dirty="0" err="1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Acessibilidade</a:t>
            </a: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55080" y="4069080"/>
            <a:ext cx="525780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6355080" y="4069080"/>
            <a:ext cx="73152" cy="246888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583680" y="4251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&amp; UX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83680" y="4663440"/>
            <a:ext cx="4937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Z-pattern de leitura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Paleta de 5 cores com contraste WCAG AA validado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Tooltips dinâmicos com </a:t>
            </a:r>
            <a:r>
              <a:rPr lang="en-US" sz="1100" dirty="0" err="1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</a:t>
            </a: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insights.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4747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 1 — Visão Executiva</a:t>
            </a:r>
            <a:endParaRPr lang="en-US" sz="280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CB8B996-A421-957D-A417-533B3F529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" y="650390"/>
            <a:ext cx="10745911" cy="6031624"/>
          </a:xfrm>
          <a:prstGeom prst="rect">
            <a:avLst/>
          </a:prstGeom>
        </p:spPr>
      </p:pic>
      <p:sp>
        <p:nvSpPr>
          <p:cNvPr id="48" name="Text 1">
            <a:extLst>
              <a:ext uri="{FF2B5EF4-FFF2-40B4-BE49-F238E27FC236}">
                <a16:creationId xmlns:a16="http://schemas.microsoft.com/office/drawing/2014/main" id="{4486BD83-2580-15E4-272E-DD1D3033C755}"/>
              </a:ext>
            </a:extLst>
          </p:cNvPr>
          <p:cNvSpPr/>
          <p:nvPr/>
        </p:nvSpPr>
        <p:spPr>
          <a:xfrm>
            <a:off x="11308080" y="6598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80191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 2 — Análise Canal/Região</a:t>
            </a:r>
            <a:endParaRPr lang="en-US" sz="2800" dirty="0"/>
          </a:p>
        </p:txBody>
      </p:sp>
      <p:sp>
        <p:nvSpPr>
          <p:cNvPr id="42" name="Text 1">
            <a:extLst>
              <a:ext uri="{FF2B5EF4-FFF2-40B4-BE49-F238E27FC236}">
                <a16:creationId xmlns:a16="http://schemas.microsoft.com/office/drawing/2014/main" id="{708D94CB-4D37-972B-AAE3-3335B47A32CC}"/>
              </a:ext>
            </a:extLst>
          </p:cNvPr>
          <p:cNvSpPr/>
          <p:nvPr/>
        </p:nvSpPr>
        <p:spPr>
          <a:xfrm>
            <a:off x="11308080" y="6598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9</a:t>
            </a:r>
            <a:endParaRPr lang="en-US" sz="9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9734E52-E4D9-A5E9-DE80-A35F39E3DD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" y="684882"/>
            <a:ext cx="10668000" cy="59929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0CE257-5487-0101-7295-7A32B36E2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331EA51-0F2F-C9CF-290D-DD32CC3B6A82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8E5053F-739B-2DF5-FCF1-0AF801E522C0}"/>
              </a:ext>
            </a:extLst>
          </p:cNvPr>
          <p:cNvSpPr/>
          <p:nvPr/>
        </p:nvSpPr>
        <p:spPr>
          <a:xfrm>
            <a:off x="548640" y="1501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 3 — Drill-down Produto</a:t>
            </a:r>
            <a:endParaRPr lang="en-US" sz="2800" dirty="0"/>
          </a:p>
        </p:txBody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5D0BAC71-EA25-85B5-799D-964D2F8456C5}"/>
              </a:ext>
            </a:extLst>
          </p:cNvPr>
          <p:cNvSpPr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9</a:t>
            </a:r>
            <a:endParaRPr lang="en-US" sz="90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E8BD881-BCEA-961E-4B86-BA091B8FFC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148" y="745424"/>
            <a:ext cx="10590236" cy="5964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876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Achados Consolidados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3 insights que </a:t>
            </a:r>
            <a:r>
              <a:rPr lang="en-US" sz="1300" i="1" dirty="0" err="1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direcionam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110642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822960" y="1783080"/>
            <a:ext cx="822960" cy="822960"/>
          </a:xfrm>
          <a:prstGeom prst="ellipse">
            <a:avLst/>
          </a:prstGeom>
          <a:solidFill>
            <a:srgbClr val="E89B2C"/>
          </a:solidFill>
          <a:ln w="127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22960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874520" y="17099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Crescimento com </a:t>
            </a:r>
            <a:r>
              <a:rPr lang="en-US" sz="1600" b="1" dirty="0" err="1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</a:t>
            </a:r>
            <a:r>
              <a:rPr lang="en-US" sz="16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 err="1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queda</a:t>
            </a:r>
            <a:r>
              <a:rPr lang="en-US" sz="16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margem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874520" y="214884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cresce por volume (+2,6%), mas margem cai -0,4pp em todos os canais. Monitorar.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063240"/>
            <a:ext cx="110642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822960" y="3337560"/>
            <a:ext cx="822960" cy="82296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22960" y="3337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1874520" y="326440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6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cresce e quem perde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874520" y="370332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dirty="0">
                <a:solidFill>
                  <a:srgbClr val="4A4A4A"/>
                </a:solidFill>
                <a:latin typeface="Arial" pitchFamily="34" charset="0"/>
                <a:cs typeface="Arial" pitchFamily="34" charset="-120"/>
              </a:rPr>
              <a:t>Varejo Pequeno Porte cresce e ganha </a:t>
            </a:r>
            <a:r>
              <a:rPr lang="pt-BR" sz="1100" dirty="0" err="1">
                <a:solidFill>
                  <a:srgbClr val="4A4A4A"/>
                </a:solidFill>
                <a:latin typeface="Arial" pitchFamily="34" charset="0"/>
                <a:cs typeface="Arial" pitchFamily="34" charset="-120"/>
              </a:rPr>
              <a:t>share</a:t>
            </a:r>
            <a:r>
              <a:rPr lang="pt-BR" sz="1100" dirty="0">
                <a:solidFill>
                  <a:srgbClr val="4A4A4A"/>
                </a:solidFill>
                <a:latin typeface="Arial" pitchFamily="34" charset="0"/>
                <a:cs typeface="Arial" pitchFamily="34" charset="-120"/>
              </a:rPr>
              <a:t>. Atacado perde </a:t>
            </a:r>
            <a:r>
              <a:rPr lang="pt-BR" sz="1100" dirty="0" err="1">
                <a:solidFill>
                  <a:srgbClr val="4A4A4A"/>
                </a:solidFill>
                <a:latin typeface="Arial" pitchFamily="34" charset="0"/>
                <a:cs typeface="Arial" pitchFamily="34" charset="-120"/>
              </a:rPr>
              <a:t>share</a:t>
            </a:r>
            <a:r>
              <a:rPr lang="pt-BR" sz="1100" dirty="0">
                <a:solidFill>
                  <a:srgbClr val="4A4A4A"/>
                </a:solidFill>
                <a:latin typeface="Arial" pitchFamily="34" charset="0"/>
                <a:cs typeface="Arial" pitchFamily="34" charset="-120"/>
              </a:rPr>
              <a:t> e tem margem crítica (36,7%). Demais canais estáveis.</a:t>
            </a:r>
            <a:endParaRPr lang="en-US" sz="1100" dirty="0">
              <a:solidFill>
                <a:srgbClr val="4A4A4A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8640" y="4617720"/>
            <a:ext cx="110642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18" name="Shape 16"/>
          <p:cNvSpPr/>
          <p:nvPr/>
        </p:nvSpPr>
        <p:spPr>
          <a:xfrm>
            <a:off x="822960" y="4892040"/>
            <a:ext cx="822960" cy="822960"/>
          </a:xfrm>
          <a:prstGeom prst="ellipse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822960" y="4892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1874520" y="481888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 Light em risco sistêmico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874520" y="525780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Torradas Light (-8,3%) e Light no Atacado (33,3% de margem) indicam problema estrutural.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Recomendações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diagnóstico para ação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3584448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3584448" cy="77724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85800" y="146304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1371600" y="1508760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Revisar política comercial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71600" y="1847088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× Preço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2377440"/>
            <a:ext cx="31272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Renegociar custos e revisar preços, com foco no Atacado (margem de 36,7%).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5349240"/>
            <a:ext cx="3127248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777240" y="5440680"/>
            <a:ext cx="1563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" y="5669280"/>
            <a:ext cx="1563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340864" y="5440680"/>
            <a:ext cx="1563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Prazo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340864" y="5669280"/>
            <a:ext cx="1563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Curto prazo (3 meses)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61688" y="1417320"/>
            <a:ext cx="3584448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4361688" y="1417320"/>
            <a:ext cx="3584448" cy="77724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4498848" y="146304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5184648" y="1508760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Dobrar aposta no Varejo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84648" y="1847088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Reavaliar Atacado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90288" y="2377440"/>
            <a:ext cx="31272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Concentrar investimento no Varejo Grande Porte e reestruturar ou reduzir o Atacado.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90288" y="5349240"/>
            <a:ext cx="3127248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4590288" y="5440680"/>
            <a:ext cx="1563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90288" y="5669280"/>
            <a:ext cx="1563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53912" y="5440680"/>
            <a:ext cx="1563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Prazo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153912" y="5669280"/>
            <a:ext cx="1563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Médio prazo (6 meses)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74736" y="1417320"/>
            <a:ext cx="3584448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8174736" y="1417320"/>
            <a:ext cx="3584448" cy="777240"/>
          </a:xfrm>
          <a:prstGeom prst="rect">
            <a:avLst/>
          </a:prstGeom>
          <a:solidFill>
            <a:srgbClr val="E89B2C"/>
          </a:solidFill>
          <a:ln w="127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8311896" y="146304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400" dirty="0"/>
          </a:p>
        </p:txBody>
      </p:sp>
      <p:sp>
        <p:nvSpPr>
          <p:cNvPr id="32" name="Text 30"/>
          <p:cNvSpPr/>
          <p:nvPr/>
        </p:nvSpPr>
        <p:spPr>
          <a:xfrm>
            <a:off x="8997696" y="1508760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Reposicionar linha Light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997696" y="1847088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 descontinuar onde não faz sentido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403336" y="2377440"/>
            <a:ext cx="31272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Descontinuar combinações como Torradas Light e Light × Atacado ou reposicionar a linha (baixo crescimento e baixa margem).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403336" y="5349240"/>
            <a:ext cx="3127248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8403336" y="5440680"/>
            <a:ext cx="1563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403336" y="5669280"/>
            <a:ext cx="1563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Médio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966960" y="5440680"/>
            <a:ext cx="1563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Prazo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966960" y="5669280"/>
            <a:ext cx="1563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Médio prazo (6 meses)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9D4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Evoluções naturais do dashboard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640080" cy="64008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54480" y="190195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</a:t>
            </a: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ERP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2304288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i="1" dirty="0">
                <a:solidFill>
                  <a:srgbClr val="C9D4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reais e atualização automática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971800"/>
            <a:ext cx="640080" cy="64008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31520" y="2971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54480" y="295351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preditivo de receita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54480" y="3355848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i="1" dirty="0">
                <a:solidFill>
                  <a:srgbClr val="C9D4E5"/>
                </a:solidFill>
                <a:latin typeface="Arial" pitchFamily="34" charset="0"/>
                <a:cs typeface="Arial" pitchFamily="34" charset="-120"/>
              </a:rPr>
              <a:t>Antecipar receita e </a:t>
            </a:r>
            <a:r>
              <a:rPr lang="pt-BR" sz="1200" i="1" dirty="0" err="1">
                <a:solidFill>
                  <a:srgbClr val="C9D4E5"/>
                </a:solidFill>
                <a:latin typeface="Arial" pitchFamily="34" charset="0"/>
                <a:cs typeface="Arial" pitchFamily="34" charset="-120"/>
              </a:rPr>
              <a:t>churn</a:t>
            </a:r>
            <a:endParaRPr lang="en-US" sz="1200" i="1" dirty="0">
              <a:solidFill>
                <a:srgbClr val="C9D4E5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31520" y="4023360"/>
            <a:ext cx="640080" cy="64008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731520" y="4023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554480" y="400507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 automáticos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4407408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200" i="1" dirty="0">
                <a:solidFill>
                  <a:srgbClr val="C9D4E5"/>
                </a:solidFill>
                <a:latin typeface="Arial" pitchFamily="34" charset="0"/>
                <a:cs typeface="Arial" pitchFamily="34" charset="-120"/>
              </a:rPr>
              <a:t>Ação rápida sobre desvios críticos </a:t>
            </a:r>
          </a:p>
        </p:txBody>
      </p:sp>
      <p:sp>
        <p:nvSpPr>
          <p:cNvPr id="18" name="Shape 16"/>
          <p:cNvSpPr/>
          <p:nvPr/>
        </p:nvSpPr>
        <p:spPr>
          <a:xfrm>
            <a:off x="731520" y="5212080"/>
            <a:ext cx="1828800" cy="0"/>
          </a:xfrm>
          <a:prstGeom prst="line">
            <a:avLst/>
          </a:prstGeom>
          <a:noFill/>
          <a:ln w="254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731520" y="5394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Obrigado!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731520" y="6080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9D4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Aberto para </a:t>
            </a:r>
            <a:r>
              <a:rPr lang="en-US" sz="1400" i="1" dirty="0" err="1">
                <a:solidFill>
                  <a:srgbClr val="C9D4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perguntas</a:t>
            </a:r>
            <a:r>
              <a:rPr lang="en-US" sz="1400" i="1" dirty="0">
                <a:solidFill>
                  <a:srgbClr val="C9D4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</TotalTime>
  <Words>1306</Words>
  <Application>Microsoft Office PowerPoint</Application>
  <PresentationFormat>Widescreen</PresentationFormat>
  <Paragraphs>126</Paragraphs>
  <Slides>9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Bimbo - Dashboard Sales Insights</dc:title>
  <dc:subject>PptxGenJS Presentation</dc:subject>
  <dc:creator>Renan Santos Ferreira</dc:creator>
  <cp:lastModifiedBy>Renan Santos Ferreira</cp:lastModifiedBy>
  <cp:revision>11</cp:revision>
  <dcterms:created xsi:type="dcterms:W3CDTF">2026-04-21T00:53:50Z</dcterms:created>
  <dcterms:modified xsi:type="dcterms:W3CDTF">2026-04-23T21:48:36Z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ba52d44-af58-4f66-8659-3c1b8d659d72_Enabled">
    <vt:lpwstr>true</vt:lpwstr>
  </property>
  <property fmtid="{D5CDD505-2E9C-101B-9397-08002B2CF9AE}" pid="3" name="MSIP_Label_3ba52d44-af58-4f66-8659-3c1b8d659d72_SetDate">
    <vt:lpwstr>2026-04-23T15:21:36Z</vt:lpwstr>
  </property>
  <property fmtid="{D5CDD505-2E9C-101B-9397-08002B2CF9AE}" pid="4" name="MSIP_Label_3ba52d44-af58-4f66-8659-3c1b8d659d72_Method">
    <vt:lpwstr>Privileged</vt:lpwstr>
  </property>
  <property fmtid="{D5CDD505-2E9C-101B-9397-08002B2CF9AE}" pid="5" name="MSIP_Label_3ba52d44-af58-4f66-8659-3c1b8d659d72_Name">
    <vt:lpwstr>3ba52d44-af58-4f66-8659-3c1b8d659d72</vt:lpwstr>
  </property>
  <property fmtid="{D5CDD505-2E9C-101B-9397-08002B2CF9AE}" pid="6" name="MSIP_Label_3ba52d44-af58-4f66-8659-3c1b8d659d72_SiteId">
    <vt:lpwstr>461fd7ef-0eb3-4420-b044-310dc2914d64</vt:lpwstr>
  </property>
  <property fmtid="{D5CDD505-2E9C-101B-9397-08002B2CF9AE}" pid="7" name="MSIP_Label_3ba52d44-af58-4f66-8659-3c1b8d659d72_ActionId">
    <vt:lpwstr>039902bb-589b-487d-8dfa-961f471e4f64</vt:lpwstr>
  </property>
  <property fmtid="{D5CDD505-2E9C-101B-9397-08002B2CF9AE}" pid="8" name="MSIP_Label_3ba52d44-af58-4f66-8659-3c1b8d659d72_ContentBits">
    <vt:lpwstr>2</vt:lpwstr>
  </property>
  <property fmtid="{D5CDD505-2E9C-101B-9397-08002B2CF9AE}" pid="9" name="MSIP_Label_3ba52d44-af58-4f66-8659-3c1b8d659d72_Tag">
    <vt:lpwstr>10, 0, 1, 1</vt:lpwstr>
  </property>
  <property fmtid="{D5CDD505-2E9C-101B-9397-08002B2CF9AE}" pid="10" name="ClassificationContentMarkingFooterLocations">
    <vt:lpwstr>Office Theme:3</vt:lpwstr>
  </property>
  <property fmtid="{D5CDD505-2E9C-101B-9397-08002B2CF9AE}" pid="11" name="ClassificationContentMarkingFooterText">
    <vt:lpwstr>This content is Internal.</vt:lpwstr>
  </property>
</Properties>
</file>