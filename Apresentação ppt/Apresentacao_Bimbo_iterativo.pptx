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webextensions/webextension1.xml" ContentType="application/vnd.ms-office.webextension+xml"/>
  <Override PartName="/ppt/notesSlides/notesSlide5.xml" ContentType="application/vnd.openxmlformats-officedocument.presentationml.notesSlide+xml"/>
  <Override PartName="/ppt/webextensions/webextension2.xml" ContentType="application/vnd.ms-office.webextension+xml"/>
  <Override PartName="/ppt/notesSlides/notesSlide6.xml" ContentType="application/vnd.openxmlformats-officedocument.presentationml.notesSlide+xml"/>
  <Override PartName="/ppt/webextensions/webextension3.xml" ContentType="application/vnd.ms-office.webextension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7" r:id="rId6"/>
    <p:sldId id="268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7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8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6196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(15s): 'Bom dia/tarde. Meu nome é Renan Santos Ferreira e hoje vou apresentar o Dashboard Sales Insights desenvolvido para o case da Bimbo Brasil. O foco é responder 5 perguntas de negócio sobre performance comercial, canais, margem e market share, usando uma base de vendas de 2023 e 2024.'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e Objetivo (45s): 'O dashboard foi desenhado para a Controladoria DNA responder 5 perguntas-chave. Mais do que mostrar o que aconteceu, o objetivo foi entregar uma ferramenta que diagnostica CAUSAS e sugere AÇÕES. A estrutura analítica segue a lógica: o que aconteceu → por que aconteceu → o que fazer.'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Abordagem técnica (60s): 'Em termos de dados: trabalhei com uma base sintética de 40 mil registros gerada em Python com Faker, simulando 2 anos de venda. A modelagem seguiu star schema com uma fato e 5 dimensões. Pra responder Market Share, criei uma tabela auxiliar com o mercado estimado por tipo de canal baseado em referências públicas (ABIP, Nielsen). Em termos de design, segui Z-pattern, paleta de 5 cores e validei acessibilidade WCAG AA com axe DevTools — encontrei 4 inconsistências de contraste e ajustei todas.'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Aba 1 - Visão Executiva (90s): 'A primeira aba traz os KPIs macro: receita de R$ 193 milhões em 2024, crescimento de 1,4% em relação a 2023. O volume puxou esse crescimento — mais 2,6% em unidades vendidas. A margem bruta recuou levemente de 47,9% pra 47,5%. Não é um estrago estrutural, mas mostra que o repasse de custo não acompanhou totalmente o crescimento de volume. A aba combina evolução temporal, decomposição YoY com waterfall e uma matriz BCG específica pra margem.'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BBCEC-83BF-FB62-80D0-650382A66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14F63D-831F-1AE4-5401-2EC5F88CAA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55055C-B26E-5893-D8C2-AD1358662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Aba 1 - Visão Executiva (90s): 'A primeira aba traz os KPIs macro: receita de R$ 193 milhões em 2024, crescimento de 1,4% em relação a 2023. O volume puxou esse crescimento — mais 2,6% em unidades vendidas. A margem bruta recuou levemente de 47,9% pra 47,5%. Não é um estrago estrutural, mas mostra que o repasse de custo não acompanhou totalmente o crescimento de volume. A aba combina evolução temporal, decomposição YoY com waterfall e uma matriz BCG específica pra margem.'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85A26-7498-382B-B05E-88104C849B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971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E7F71-9E6C-3F76-8782-5AA2AADC9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0EC6AC-7033-14AD-3EBB-F1DBC7041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AC26C2-F4D7-DF5F-DDCE-7D012B942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Aba 1 - Visão Executiva (90s): 'A primeira aba traz os KPIs macro: receita de R$ 193 milhões em 2024, crescimento de 1,4% em relação a 2023. O volume puxou esse crescimento — mais 2,6% em unidades vendidas. A margem bruta recuou levemente de 47,9% pra 47,5%. Não é um estrago estrutural, mas mostra que o repasse de custo não acompanhou totalmente o crescimento de volume. A aba combina evolução temporal, decomposição YoY com waterfall e uma matriz BCG específica pra margem.'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FE099-3B61-5149-7969-785BD4293B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2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Achados consolidados (60s): 'Consolidando os 3 achados principais que quero destacar: Um — crescimento com erosão leve de margem. A empresa cresceu, mas perdeu um pouco de rentabilidade em todos os canais. Dois — polarização dos canais: Varejo virou Estrela, Atacado virou Abacaxi. Três — linha Light com problema sistêmico: ruim em crescimento E em margem. Esses 3 achados guiam diretamente as recomendações do próximo slide.'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Recomendações (75s): 'Três ações que saem direto dos achados: Primeira e mais urgente — revisar política comercial. A margem caiu mesmo com crescimento, isso é um sinal. Negociar custo, ou reajustar preço, começando pelo Atacado. Segunda — dobrar aposta no Varejo, onde a tração é clara, e decidir o que fazer com Atacado: reestruturar ou reduzir exposição. Terceira — decisão sobre a linha Light: ou reposiciona, ou descontinua nas combinações mais ruins. Manter SKU que não cresce e dá pouca margem só dilui o portfólio.'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 + encerramento (45s): 'Como próximos passos naturais, vejo 3 frentes: integração direta com SAP HANA pra automatizar a carga de dados reais, substituindo a base fictícia; um modelo preditivo simples pra projetar receita e churn — algo que trabalho atualmente no contexto de manutenção, usando XGBoost e SHAP; e alertas automáticos via Power Automate quando métricas cruzam thresholds. Foco nos dois primeiros pra próxima fase. Obrigado pela atenção, à disposição pra perguntas.'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3FBF4E1-C431-D48D-ABDA-07BF9950503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91163" y="6642100"/>
            <a:ext cx="12382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content is Internal.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Sales Insights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 err="1">
                <a:solidFill>
                  <a:srgbClr val="C9D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r>
              <a:rPr lang="en-US" sz="1800" i="1" dirty="0">
                <a:solidFill>
                  <a:srgbClr val="C9D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receita, margem e market share — 2023/2024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931920"/>
            <a:ext cx="2743200" cy="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Bimbo Brasil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C9D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Controladoria DNA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Renan Santos Ferreira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9D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de abril de 2026</a:t>
            </a:r>
            <a:endParaRPr lang="en-US" sz="14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F8C3E2C-78C3-9492-313A-8B66C8D51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850" y="151561"/>
            <a:ext cx="835491" cy="7628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e Objetivo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dashboard precisa responder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4754880" cy="36118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1835972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Controladoria precisa de uma visão de receita, margem, </a:t>
            </a:r>
            <a:r>
              <a:rPr lang="pt-BR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</a:t>
            </a:r>
            <a:r>
              <a:rPr lang="pt-BR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crescimento para orientar decisões em 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227292"/>
            <a:ext cx="1371600" cy="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7240" y="36342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3998259"/>
            <a:ext cx="4389120" cy="973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Entregar um dashboard  que </a:t>
            </a:r>
            <a:r>
              <a:rPr lang="en-US" sz="12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mostre</a:t>
            </a: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</a:p>
          <a:p>
            <a:pPr marL="0" indent="0">
              <a:buNone/>
            </a:pPr>
            <a:endParaRPr lang="en-US" sz="1200" i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</a:t>
            </a:r>
            <a:r>
              <a:rPr lang="en-US" sz="12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aconteceu</a:t>
            </a: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Porque</a:t>
            </a: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aconteceu</a:t>
            </a: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</a:t>
            </a:r>
            <a:r>
              <a:rPr lang="en-US" sz="12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fazer</a:t>
            </a: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0" y="1167205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Perguntas de negócio respondidas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0" y="1670125"/>
            <a:ext cx="457200" cy="45720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669280" y="16701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715845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estamos performando vs. o ano anterior (YoY)?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0" y="2447365"/>
            <a:ext cx="457200" cy="45720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669280" y="24473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2493085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canais, regiões e SKUs lideram ou travam o crescimento?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3224605"/>
            <a:ext cx="457200" cy="45720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669280" y="32246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3270325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é a margem bruta por linha de produto e canal?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0" y="4001845"/>
            <a:ext cx="457200" cy="45720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669280" y="40018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63640" y="4047565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estamos ganhando ou perdendo Market Share?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0" y="4779085"/>
            <a:ext cx="457200" cy="45720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669280" y="477908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63640" y="4824805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é a tendência de receita das próximas semanas?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247120" y="6525409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Abordagem Técnica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Dados, modelagem e entregáveis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257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73152" cy="246888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Dados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40.453 registros de venda (2023-2024)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canais • 8 regiões • 22 SKUs • 200 clientes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Gerada em Python (Faker)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5257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355080" y="1417320"/>
            <a:ext cx="73152" cy="24688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58368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01168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Esquema-estrela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fVendas como fato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dimensões (Canais, Regiões, Produtos, Clientes, Calendário)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auxiliar </a:t>
            </a:r>
            <a:r>
              <a:rPr lang="en-US" sz="1100" dirty="0" err="1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dMercado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estimado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5257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73152" cy="246888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724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66344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Desktop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(geração de base sintética)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 </a:t>
            </a:r>
            <a:r>
              <a:rPr lang="en-US" sz="1100" dirty="0" err="1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DevTools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100" dirty="0" err="1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Acessibilidade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4069080"/>
            <a:ext cx="5257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355080" y="4069080"/>
            <a:ext cx="73152" cy="246888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58368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UX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466344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F-pattern de </a:t>
            </a:r>
            <a:r>
              <a:rPr lang="en-US" sz="1100" dirty="0" err="1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5 cores com </a:t>
            </a:r>
            <a:r>
              <a:rPr lang="en-US" sz="1100" dirty="0" err="1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contraste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validado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WCAG AA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Tooltips dinâmicos com </a:t>
            </a:r>
            <a:r>
              <a:rPr lang="en-US" sz="1100" dirty="0" err="1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insights.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4747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 1 — Visão Executiva</a:t>
            </a:r>
            <a:endParaRPr lang="en-US" sz="2800" dirty="0"/>
          </a:p>
        </p:txBody>
      </p:sp>
      <p:sp>
        <p:nvSpPr>
          <p:cNvPr id="48" name="Text 1">
            <a:extLst>
              <a:ext uri="{FF2B5EF4-FFF2-40B4-BE49-F238E27FC236}">
                <a16:creationId xmlns:a16="http://schemas.microsoft.com/office/drawing/2014/main" id="{4486BD83-2580-15E4-272E-DD1D3033C755}"/>
              </a:ext>
            </a:extLst>
          </p:cNvPr>
          <p:cNvSpPr/>
          <p:nvPr/>
        </p:nvSpPr>
        <p:spPr>
          <a:xfrm>
            <a:off x="11308080" y="6598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</a:t>
            </a:r>
            <a:endParaRPr lang="en-US" sz="900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Suplemento 3">
                <a:extLst>
                  <a:ext uri="{FF2B5EF4-FFF2-40B4-BE49-F238E27FC236}">
                    <a16:creationId xmlns:a16="http://schemas.microsoft.com/office/drawing/2014/main" id="{D1D764F2-6385-04C2-7543-36572D9748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0864612"/>
                  </p:ext>
                </p:extLst>
              </p:nvPr>
            </p:nvGraphicFramePr>
            <p:xfrm>
              <a:off x="201168" y="762000"/>
              <a:ext cx="11990832" cy="60959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Suplemento 3">
                <a:extLst>
                  <a:ext uri="{FF2B5EF4-FFF2-40B4-BE49-F238E27FC236}">
                    <a16:creationId xmlns:a16="http://schemas.microsoft.com/office/drawing/2014/main" id="{D1D764F2-6385-04C2-7543-36572D97485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1168" y="762000"/>
                <a:ext cx="11990832" cy="609599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7EBB22-64EA-5FE3-858D-5ABC71443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7A7727E-D3A4-4B35-92A4-361D2FEEEA45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F2F0FFE-2B17-CF83-B058-C957D6D785C3}"/>
              </a:ext>
            </a:extLst>
          </p:cNvPr>
          <p:cNvSpPr/>
          <p:nvPr/>
        </p:nvSpPr>
        <p:spPr>
          <a:xfrm>
            <a:off x="548640" y="14747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 2 — </a:t>
            </a:r>
            <a:r>
              <a:rPr lang="en-US" sz="2800" b="1" dirty="0" err="1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r>
              <a:rPr lang="en-US" sz="2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Canal/</a:t>
            </a:r>
            <a:r>
              <a:rPr lang="en-US" sz="2800" b="1" dirty="0" err="1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Região</a:t>
            </a:r>
            <a:endParaRPr lang="en-US" sz="2800" dirty="0"/>
          </a:p>
        </p:txBody>
      </p:sp>
      <p:sp>
        <p:nvSpPr>
          <p:cNvPr id="48" name="Text 1">
            <a:extLst>
              <a:ext uri="{FF2B5EF4-FFF2-40B4-BE49-F238E27FC236}">
                <a16:creationId xmlns:a16="http://schemas.microsoft.com/office/drawing/2014/main" id="{B94A45F7-CA00-9C4C-F8A8-EA2CC7F1B7F2}"/>
              </a:ext>
            </a:extLst>
          </p:cNvPr>
          <p:cNvSpPr/>
          <p:nvPr/>
        </p:nvSpPr>
        <p:spPr>
          <a:xfrm>
            <a:off x="11308080" y="6598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</a:t>
            </a:r>
            <a:endParaRPr lang="en-US" sz="900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Suplemento 3">
                <a:extLst>
                  <a:ext uri="{FF2B5EF4-FFF2-40B4-BE49-F238E27FC236}">
                    <a16:creationId xmlns:a16="http://schemas.microsoft.com/office/drawing/2014/main" id="{2BFD2F33-6A7F-0C3E-CEB8-9BB363D93E9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1168" y="762000"/>
              <a:ext cx="11990832" cy="60959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Suplemento 3">
                <a:extLst>
                  <a:ext uri="{FF2B5EF4-FFF2-40B4-BE49-F238E27FC236}">
                    <a16:creationId xmlns:a16="http://schemas.microsoft.com/office/drawing/2014/main" id="{2BFD2F33-6A7F-0C3E-CEB8-9BB363D93E9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1168" y="762000"/>
                <a:ext cx="11990832" cy="60959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2956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EB4411-A926-00CB-9806-2BEF114A8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9C1B16-3A6E-DFB2-EC86-016C3B349202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4FA1A8B-9A78-FD43-4B84-A66B6A2CB523}"/>
              </a:ext>
            </a:extLst>
          </p:cNvPr>
          <p:cNvSpPr/>
          <p:nvPr/>
        </p:nvSpPr>
        <p:spPr>
          <a:xfrm>
            <a:off x="548640" y="14747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 3 — Drill-down </a:t>
            </a:r>
            <a:r>
              <a:rPr lang="en-US" sz="2800" b="1" dirty="0" err="1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</a:t>
            </a:r>
            <a:endParaRPr lang="en-US" sz="2800" dirty="0"/>
          </a:p>
        </p:txBody>
      </p:sp>
      <p:sp>
        <p:nvSpPr>
          <p:cNvPr id="48" name="Text 1">
            <a:extLst>
              <a:ext uri="{FF2B5EF4-FFF2-40B4-BE49-F238E27FC236}">
                <a16:creationId xmlns:a16="http://schemas.microsoft.com/office/drawing/2014/main" id="{88477E73-4719-080B-1D67-75B710C6F06F}"/>
              </a:ext>
            </a:extLst>
          </p:cNvPr>
          <p:cNvSpPr/>
          <p:nvPr/>
        </p:nvSpPr>
        <p:spPr>
          <a:xfrm>
            <a:off x="11308080" y="6598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</a:t>
            </a:r>
            <a:endParaRPr lang="en-US" sz="900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Suplemento 3">
                <a:extLst>
                  <a:ext uri="{FF2B5EF4-FFF2-40B4-BE49-F238E27FC236}">
                    <a16:creationId xmlns:a16="http://schemas.microsoft.com/office/drawing/2014/main" id="{8C636EB1-3899-4D98-1F6E-81F3A0202D9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1168" y="762000"/>
              <a:ext cx="11990832" cy="60959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Suplemento 3">
                <a:extLst>
                  <a:ext uri="{FF2B5EF4-FFF2-40B4-BE49-F238E27FC236}">
                    <a16:creationId xmlns:a16="http://schemas.microsoft.com/office/drawing/2014/main" id="{8C636EB1-3899-4D98-1F6E-81F3A0202D9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1168" y="762000"/>
                <a:ext cx="11990832" cy="60959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5831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Achados Consolidados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3 insights que </a:t>
            </a:r>
            <a:r>
              <a:rPr lang="en-US" sz="1300" i="1" dirty="0" err="1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direcionam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11064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822960" cy="822960"/>
          </a:xfrm>
          <a:prstGeom prst="ellipse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874520" y="17099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com </a:t>
            </a:r>
            <a:r>
              <a:rPr lang="en-US" sz="1600" b="1" dirty="0" err="1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</a:t>
            </a: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</a:t>
            </a: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margem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74520" y="21488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cresce por volume (+2,6%), mas margem cai -0,4pp em todos os canais. Monitorar.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11064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22960" y="3337560"/>
            <a:ext cx="822960" cy="8229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2960" y="3337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874520" y="326440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cresce e quem perde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74520" y="370332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dirty="0">
                <a:solidFill>
                  <a:srgbClr val="4A4A4A"/>
                </a:solidFill>
                <a:latin typeface="Arial" pitchFamily="34" charset="0"/>
                <a:cs typeface="Arial" pitchFamily="34" charset="-120"/>
              </a:rPr>
              <a:t>Varejo Pequeno Porte cresce e ganha </a:t>
            </a:r>
            <a:r>
              <a:rPr lang="pt-BR" sz="1100" dirty="0" err="1">
                <a:solidFill>
                  <a:srgbClr val="4A4A4A"/>
                </a:solidFill>
                <a:latin typeface="Arial" pitchFamily="34" charset="0"/>
                <a:cs typeface="Arial" pitchFamily="34" charset="-120"/>
              </a:rPr>
              <a:t>share</a:t>
            </a:r>
            <a:r>
              <a:rPr lang="pt-BR" sz="1100" dirty="0">
                <a:solidFill>
                  <a:srgbClr val="4A4A4A"/>
                </a:solidFill>
                <a:latin typeface="Arial" pitchFamily="34" charset="0"/>
                <a:cs typeface="Arial" pitchFamily="34" charset="-120"/>
              </a:rPr>
              <a:t>. Atacado perde </a:t>
            </a:r>
            <a:r>
              <a:rPr lang="pt-BR" sz="1100" dirty="0" err="1">
                <a:solidFill>
                  <a:srgbClr val="4A4A4A"/>
                </a:solidFill>
                <a:latin typeface="Arial" pitchFamily="34" charset="0"/>
                <a:cs typeface="Arial" pitchFamily="34" charset="-120"/>
              </a:rPr>
              <a:t>share</a:t>
            </a:r>
            <a:r>
              <a:rPr lang="pt-BR" sz="1100" dirty="0">
                <a:solidFill>
                  <a:srgbClr val="4A4A4A"/>
                </a:solidFill>
                <a:latin typeface="Arial" pitchFamily="34" charset="0"/>
                <a:cs typeface="Arial" pitchFamily="34" charset="-120"/>
              </a:rPr>
              <a:t> e tem margem crítica (36,7%). Demais canais estáveis.</a:t>
            </a:r>
            <a:endParaRPr lang="en-US" sz="1100" dirty="0">
              <a:solidFill>
                <a:srgbClr val="4A4A4A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1064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8" name="Shape 16"/>
          <p:cNvSpPr/>
          <p:nvPr/>
        </p:nvSpPr>
        <p:spPr>
          <a:xfrm>
            <a:off x="822960" y="4892040"/>
            <a:ext cx="822960" cy="822960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874520" y="481888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Light em risco sistêmico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74520" y="525780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Torradas Light (-8,3%) e Light no Atacado (33,3% de margem) indicam problema estrutural.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Recomendações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diagnóstico para ação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584448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84448" cy="7772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85800" y="1463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1371600" y="150876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política comercial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184708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× Preço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377440"/>
            <a:ext cx="31272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Renegociar custos e revisar preços, com foco no Atacado (margem de 36,7%).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5349240"/>
            <a:ext cx="3127248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77240" y="5440680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566928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40864" y="5440680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40864" y="566928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Curto prazo (3 meses)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61688" y="1417320"/>
            <a:ext cx="3584448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361688" y="1417320"/>
            <a:ext cx="3584448" cy="7772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498848" y="1463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5184648" y="150876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Dobrar aposta no Varejo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84648" y="184708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Reavaliar Atacado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90288" y="2377440"/>
            <a:ext cx="31272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Concentrar investimento no Varejo Grande Porte e reestruturar ou reduzir o Atacado.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90288" y="5349240"/>
            <a:ext cx="3127248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590288" y="5440680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90288" y="566928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53912" y="5440680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53912" y="566928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 prazo (6 meses)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74736" y="1417320"/>
            <a:ext cx="3584448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8174736" y="1417320"/>
            <a:ext cx="3584448" cy="77724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8311896" y="1463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32" name="Text 30"/>
          <p:cNvSpPr/>
          <p:nvPr/>
        </p:nvSpPr>
        <p:spPr>
          <a:xfrm>
            <a:off x="8997696" y="150876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Reposicionar linha Light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997696" y="184708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descontinuar onde não faz sentido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03336" y="2377440"/>
            <a:ext cx="31272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Descontinuar combinações como Torradas Light e Light × Atacado ou reposicionar a linha (baixo crescimento e baixa margem).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403336" y="5349240"/>
            <a:ext cx="3127248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8403336" y="5440680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03336" y="566928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966960" y="5440680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966960" y="566928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 prazo (6 meses)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Evoluções naturais do dashboard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640080" cy="64008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190195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ERP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30428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i="1" dirty="0">
                <a:solidFill>
                  <a:srgbClr val="C9D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reais e atualização automática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971800"/>
            <a:ext cx="640080" cy="64008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295351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preditivo de receita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35584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i="1" dirty="0">
                <a:solidFill>
                  <a:srgbClr val="C9D4E5"/>
                </a:solidFill>
                <a:latin typeface="Arial" pitchFamily="34" charset="0"/>
                <a:cs typeface="Arial" pitchFamily="34" charset="-120"/>
              </a:rPr>
              <a:t>Antecipar receita e </a:t>
            </a:r>
            <a:r>
              <a:rPr lang="pt-BR" sz="1200" i="1" dirty="0" err="1">
                <a:solidFill>
                  <a:srgbClr val="C9D4E5"/>
                </a:solidFill>
                <a:latin typeface="Arial" pitchFamily="34" charset="0"/>
                <a:cs typeface="Arial" pitchFamily="34" charset="-120"/>
              </a:rPr>
              <a:t>churn</a:t>
            </a:r>
            <a:endParaRPr lang="en-US" sz="1200" i="1" dirty="0">
              <a:solidFill>
                <a:srgbClr val="C9D4E5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640080" cy="64008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400507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automáticos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40740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200" i="1" dirty="0">
                <a:solidFill>
                  <a:srgbClr val="C9D4E5"/>
                </a:solidFill>
                <a:latin typeface="Arial" pitchFamily="34" charset="0"/>
                <a:cs typeface="Arial" pitchFamily="34" charset="-120"/>
              </a:rPr>
              <a:t>Ação rápida sobre desvios críticos </a:t>
            </a:r>
          </a:p>
        </p:txBody>
      </p:sp>
      <p:sp>
        <p:nvSpPr>
          <p:cNvPr id="18" name="Shape 16"/>
          <p:cNvSpPr/>
          <p:nvPr/>
        </p:nvSpPr>
        <p:spPr>
          <a:xfrm>
            <a:off x="731520" y="5212080"/>
            <a:ext cx="1828800" cy="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31520" y="5394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3152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Aberto para </a:t>
            </a:r>
            <a:r>
              <a:rPr lang="en-US" sz="1400" i="1" dirty="0" err="1">
                <a:solidFill>
                  <a:srgbClr val="C9D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</a:t>
            </a:r>
            <a:r>
              <a:rPr lang="en-US" sz="1400" i="1" dirty="0">
                <a:solidFill>
                  <a:srgbClr val="C9D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593D9314-3B9D-499F-B7AF-B8F72AE4CA3D}">
  <we:reference id="wa200003233" version="2.0.0.3" store="pt-BR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5F7F9&quot;"/>
    <we:property name="bookmark" value="&quot;H4sIAAAAAAAAA+Vb/W7bOBJ/FcPAoXdAWvBDFMn+1ybt3WKbRdAU7RaL4DAkR4n2ZMkryWnSIi+0r3EvdiPJbpr4Q24S2+kekD8skZr5zXC+pXwZhrQaZ3D5C4xw+Hz4Ux5SD6EoB3a4N8y7m5o5oRjELjBmpLPKKU6rxbhOi7waPv8yrKE8xfp9Wk0gayjRzd9O9oaQZUdw2lwlkFW4NxxjWRU5ZOln7DbTUl1O8GpviBfjrCihIXlcQ40N2XPaTtcEgT+TxBF8nZ7jMfq6u2u91kLFCbNMWpBSaONoW9VtaJEt3NKQbtnvF3kNaU5smntcm4R5brUI2sU6UpEWzf0qzU+zKeDrZ99djhvl1HhRu+Ki0Yf7nRg3lK6uSCBurOUgdfDIrLPcMOF6qUGL/OWkrknAOZIiirSH2AKLESLwYKN7k4wDJFJ4OlgI3IPA2N6TpOTonZM+4s4oHphmWjckkjSrp5p2l68uxiUZCZlOR/JFOIfcYxi2llBi1R38l+EhQjUpW3N4dWPhuJiUHt9i0i7ldVpfEp1DDGmAatgAOSoLMrj29sfi4+AtekxrGPytXTwrPu2XSIYWhs/Z1QndWSmyhzLcFJUuyoDly8tWjIO0nJml2LuFdDMiEOZG2VKZWAQvfGABo5gso99mV59flEBQsSeinmEsPOcWl5/fLEbEijlgjbETJNAuYoxIT093n/R8WpQUWrK5A94vsskoX1c5YR9ySOeUkxcj/LenpWzB4e59RWm5xyjRBk0cXLCRASeuUW7YBmeH9yb9Y0LrK4GKWJhYJT5injTpGGMR2xrQQyj/g/Xg+AxKXOgt1zgZBTUrUTDODLm68s7HW8PZeEQv1l7PrjzUZNf7RKG+7eFdwiGWv3+TUn5t7X5Dqj5pXVBZRqEziYNhinMfxyEK9/RqLb23UikXSfQWYrTxCq9+FH7bf3RZ6rG8IetwhFSKND8C1NDKMu7YpditF6FdxlbUL8M3KYnf0X4P2aQh++SAngjFp/xJE2angXahKbRPVC2Xh1dHZwracCkNY1owClbAhPas1xTSEZVdC2zA8MjGPtLaxAzId8lhe2lVZzBeSEsGFUHiIkF1SEChY7dNeyKthUldzKnQT1ksia/bAzKC0u8cRJbmZzsH0Vr1uFv8P3Pzdaz0pOt+IK9mvU/Hqiyy9teMPTVUGZ5j1q3+McHykvi1O77yeXZNmLanFcHNYFw1im76LLoVsAX3M15uTqCG81Ga5zO2jbktwdt5yXaxzjzze3B2jrRdnDPn/R6cN3xtCdybtGhTWRR1A2kmyFd7P5l6hYmMjINsMoekTjow6he3Gew/EKkygSw7bAYNo9uKelXDeHWU23Al+uH14eDp4AgDVvWyFmSrSIoqpTi2KNpuGckveAqPA8lLKEsYvMiLwU956tPHcEzXkF6ndyyBfetI883LdYL8XBSjBQnyvPHxwzTvSZL8YNiWe+324/RzX1LlNo6UiOUzbbWylirNg2+y65KJCb89MdlMeGhC3cL8Po1Ul3cJ3mvy7op546ntksYyaukdKg9a8d44+lCmSD1HhnmAMi1uo2xM8O+dqf7jkU/H1peiMznLpEiU9NJZ6qKCUJ7FvT3P0qGuFdIliTZGOs5QKFBS37MxtwKCjTxZhNUMHeNo+hu85QDBGYEECyJHEEEHznaSqafTrkeYqh9NpiYgFDaL8pGk669wHkfOfnwp+6+ZsYU2QnAePWvGQZGNhdpmxu4JE5tN2T3Mu5xtQxAiGK+otFFSaGvlfV+62YRFyHWinOQmDrGHsKIMmI7aX7eLJvBIx8KIyEqtvUy0Cht6z7Iizc7ZPd/MRGk5iAOoF6WR+82STjHvvGPO97qTufnr/eztNJU0r8upy07fozdnslCMvWEHhDWW/eEMm7DUWnAe0nqqjBd5O+x/g0nd6Ww0pmermQZnVz+nzT5ifr1xDeV2Fy3EZSp9m56e1UuiRSBN1+kInwgmoqeM0987xp63f90c7ZvnVyOXu0OuFiLvYl4bc5ZMFalmKOuD6dcJK2Jqr5bIL/Lw3YS4eCrnCK0z6XyJ9SfEG4PODQX2Xo9dGtHv8y6lh2cXyMFoCplKMhZbEdBHLvS//VgdyIFK9ohRKHdaKU6EtdzqS7W3eJoWuGDA6cuiLGkRVhdxm4fSziOXIvkrj/7XO5uHGP5POT27QXozo+o1heofWM8wf2sfDzauJreMFA9IzXkg7wwRCzv/AqkbDw1elpMf9xOkORmm6g5KegEsNjY2TqAjxe9a3c23IftnkzL/UXV9U4BO0S6KPWM8Ypop5k2AAGLXiv6hlTynYB97bSIdjJNgWcSF8ztXMDWqxaQevLpAP1kylrmDqhsiwSATTjNkaJ0P3Egf9VZES0ePASCWkmMcK4ecK69EP7XV9RVqTJz2jEo3Iu5jsvedn8f0q7MmEP6gVn9Lgs70ETVrhsbaAPeKAYNw30/OEmCeeZ1478AYwY1n/dXxzj/C/AEOcF6I7gwTlySSqh0RZPAoIu9VuLvCNzow2lAXshzEMY6wqkn1O0fyrkwfC5TD//5ZDcCVeH63yfpDng7kd3wv9HDTgp6PBncemrYP5eNdAmSW5rj+59T3meSvadkn3Vzy1v/8/LMsJuMWggDtApUa1gonmHXc+vYdcVr9Kw3UZE5bz5bIokEElWfVGDweQY4LBhJtfx8wDFcPJdr/kfo6j7i6+h+g9XNQnDUAAA==&quot;"/>
    <we:property name="creatorSessionId" value="&quot;8adafc8e-79b5-442b-b318-2eeb1b8f1cbb&quot;"/>
    <we:property name="creatorTenantId" value="&quot;461fd7ef-0eb3-4420-b044-310dc2914d64&quot;"/>
    <we:property name="creatorUserId" value="&quot;10032000A58DD674&quot;"/>
    <we:property name="datasetId" value="&quot;27cdccec-381d-4b4e-ac7e-6e91eab4a6aa&quot;"/>
    <we:property name="embedUrl" value="&quot;/reportEmbed?reportId=801fad83-a647-4f04-873a-1f74089a69f7&amp;config=eyJjbHVzdGVyVXJsIjoiaHR0cHM6Ly9XQUJJLVNPVVRILUNFTlRSQUwtVVMtcmVkaXJlY3QuYW5hbHlzaXMud2luZG93cy5uZXQiLCJlbWJlZEZlYXR1cmVzIjp7InVzYWdlTWV0cmljc1ZOZXh0Ijp0cnVlfX0%3D&amp;disableSensitivityBanner=true&amp;storytellingChangeViewModeShortcutKeys=true&quot;"/>
    <we:property name="initialStateBookmark" value="&quot;H4sIAAAAAAAAA+Vb627byhF+FUFAkRZwjL2Q3N388y3tQeIcww6SBoVxMLs7tHlKkTok5dgJ/EJ9jb5Yh6Rkx9aFim1J9ingHyJ3OfPN7NxJf+/7pBymcPUBBth/0/8l84kDnxc909/qZ+3N3V9/fXe4c/zutw87hwd0Ox9WSZ6V/Tff+xUUZ1h9SsoRpDUJuvmv060+pOkRnNVXMaQlbvWHWJR5BmnyDdvNtFQVI7ze6uPlMM0LqEmeVFBhTfaCttM18ebbkjiCq5ILPEFXtXeNU0qEUcwMkwakFEpb2la2GxpkM7fUpBv2e3lWQZIRm/oeVzpmjhslvLKRCsJAifp+mWRn6Rjw7bMfr4a1Viq8rGx+WevD/k6Ma0rX1yQQ18ZwkMo7ZMYarpmwndSgQb47qioScIqkCALlIDLAIoQAHJjg0SQjD7EUjmkJnjsQGJlHkpQcnbXSBdzqkHummFI1iThJq7Gm7dXB5bAgIyHTaUnu+AvIHPp+YwkFlu3Bf+8fIpSjojGHgzsLJ/mocHiMcbOUVUl1RXQO0Sceyn4N5KjIyeCa21/yL71jdJhU0PtLs3ief90rkAzN99+w61O6s1BkB4W/KypdFB6L3atGjP2kmJil2LqHdDUiEOZa2TLUkfBOOM88BhFZRrfNLj6/IAYfRo6IOoaRcJwbnH9+4+CgopBZYLWxEyRQNmCMSI9Pd4/0fJYXFFPSqQPey9PRIFtWOX4PMkimlJPlA/zN0VI643C3blAa7jCIlUYdeetNoMGKW5QrtsHJ4b1P/hjR+kKgIhI6CmMXMEeatIyxgK0N6CEU/8aqd3IOBc70llucjIKakSgYZ5pcPXTWRWvDWXtEJ9ZOzy4dVGTXe0Shuu/hbcIhlr//kFL+2dj9ilR92rhgaBiFzjjymoWcuyjygX+kVyvpnJFhaAOJzkCEJlrg1c/Cb7uPLk0cFndk7Q+QSpH6h4cKGlmGLbsE2/XcN8vYiPq9/z4h8VvanyAd1WRf7dMTPv+avarD7DjQzjSF5omy4fL06mhNQWkupWZMCUbBCphQjnWaQjKgsmuGDWgemMgFSumIAfkuOWwnrfIchjNpSR8GENtAUB3iUajIrtOeSGt+VOVTKnRjFnPi6/qADKBwGweRJtn5xkE0Vj1sF//P3HwZKz1tux/Iyknv07Iq8rT5NWFPDVWKF5i2q3+MsLgifs2OGz7bt4Rpe1IS3BSGZa3ous+iWx4bcO/wanUC1ZyPkiybsK3NbQ7e1kvWi3XimT+Ds3Wk9eKcOO/P4Lzja3Pg3qVFm4o8r2pIE0Fu7P107BU60DLyss4ckjppz6hfXGew/0ykihjS9LAeNAzuK+qgguHiKLfiSvTz28Pe694ReiyreS3IWpHkZUJxbFa0XTOSD3gGzwPJLhQF9HayvPdLlrjkORzTLaS3yQNLYNc40nTzcpsgv+X5YEaCvKh9/DDJOpIk3+835V6z/ST51pVUuYmCUERyWxkVGkOV5v4P2XXOxITfn5isJjzUoW5mfh9HqquHBO8lebfFvHbUdkltGLX0FkMHKuSdcfSpTJF6jhQzD0WS30dZm+BfW1P92zOfji0vRWtyhkkRh9JJa6iL8iJ0LOrseeYOdY2QNo6V1tJyhiKEUKpHNuZGgDeBI4swiqFlHHV3gzcfIFgtkGBBYAkiKM/ZRjL1eNr1DFP1s8nUBITCZl48k3R9A+d55Oznl7L/nBlbKC0E58F2PQ4KTCTCdWbsjjCx2pTdwbzN2cZ7Ibx2IZU2oRTKGPnYl24mZgFyFYdWch35yIFfUAaMR+1vm0XteaAioUVgpFJOxir0K3rPsiDNTtk9X81EaT6IfahmpZHHzZLOMGu9Y8r32pO5++vT5O00lTRvi7HLjl+g12cyU4ytfguE1Zb9+RzrsNRYcOaTaqyMnawZ9r/HuGp1NhjSs+VEg5Ord0m9j5jfblxCue1FA3GeSo+Ts/NqTrTwpOkqGeArwUTwmnH6+8jYm+avnaP98Pxi5HJzyMOZyNuY18ScOVNFqhmKan/8dcKCmNqpJfKLzP80IS5eyylCy0w6d7H6inhn0LmiwN7psXMj+mPepXTwbAM5aEUhM5SMRUZ4dIH13W8/FgdyoJI9YBTKrQpDToSVXOtLtWM8S3KcMeB0RV4UtAiLi7jVQ2nmkXOR/JlH/8udzVMM/8ectu+QXs2oekmhugfWE8w/2seTjavJLYOQe6Tm3JN3+oD5jX+B1I6HervF6OV+gjQlw1jdPpROAIu0ibQVaEnxm1Z3/W3I3vmoyF6qru8K0CraBpFjjAdMsZA57cGD2LSiX7SSpxTsIqd0oLy2EgwLuLBu4wqmRjUfVb2DS3SjOWOZB6i6JuI1MmEVQ4bGOs+1dEFnRTR39OgBIik5RlFokfPQhaKb2uL6ChXGVjlGpRsRdxHZ+8bPY/zVWR0IX6jV35OgNX1ExeqhsdLAXciAgX/sJ2cxMMecip2zoLXg2rHu6njjH2G+gAOcFqI9w9jGsaRqR3jpHYrAudA/XOErHRitqAuZD+IEB1hWpPqNI/lYJM8FyuF//1P2wBZ48bDJ+lOeDmQPfC/0dNOCjo8GNx6a1g/ly0MCZJpkuPzn1I+Z5C9p2aftXPLe//z8vchHwwaCAGU9lRrGCCuYsdy45h1xUv4j8dRkjlvPhsisQQSVZ+UQHB5BhjMGEk1/79H3Fw8lmv+R6k+QJjbtmmLUoG7mF9fX/wM3+J/yxTUAAA==&quot;"/>
    <we:property name="isFiltersActionButtonVisible" value="true"/>
    <we:property name="isVisualContainerHeaderHidden" value="false"/>
    <we:property name="pageDisplayName" value="&quot;KPIs&quot;"/>
    <we:property name="pageName" value="&quot;9c77256f09039a33278b&quot;"/>
    <we:property name="pptInsertionSessionID" value="&quot;7D983F5B-D527-48A0-AF36-C039D3BDB532&quot;"/>
    <we:property name="reportEmbeddedTime" value="&quot;2026-04-23T15:30:25.445Z&quot;"/>
    <we:property name="reportName" value="&quot;SalesInsights_RenanSantos&quot;"/>
    <we:property name="reportState" value="&quot;CONNECTED&quot;"/>
    <we:property name="reportUrl" value="&quot;/groups/me/reports/801fad83-a647-4f04-873a-1f74089a69f7/9c77256f09039a33278b?experience=power-bi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93D9314-3B9D-499F-B7AF-B8F72AE4CA3D}">
  <we:reference id="wa200003233" version="2.0.0.3" store="pt-BR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5F7F9&quot;"/>
    <we:property name="bookmark" value="&quot;H4sIAAAAAAAAA+1b6W7cyBF+FYHAwn+0Tl/sw/9syd5drB0IsuFkERhBs7so9S6HnCU5shVDT5MfAQLkKfxiKR4jS3NLM+JY2QCSQLKbVV9V19lsfY58qMaZvfyzHUH0LPop98FZX5QHJjqM8u6h9MrTmFLlCIsJ4zYmzWgxrkORV9Gzz1FtyzOo34dqYrOGEj7824fDyGbZiT1r7lKbVXAYjaGsitxm4R/QTcahupzA1WEEn8ZZUdqG5Nva1tCQvcDpeI8Q6FOOHK2rwwW8BVd3T4m3kCiTxt4kzCfKgdM4reomtMgWTsHnachqpN5cJpcvP41LRPx5KjCjLOUqTRh4KagDJkjDvr4cN6NHiO6sKFFPWdTiLqHqYH6OjopsMmqvXt56/raYlA5OIW2H8jrUl0jJH9kMcm/LUERXqIOTskANtUNvvvy7OrBJCRftyHnx8agEZOyjZ/Tq8BqpiRlJQQpLqeNgFOFGLkPaidwAeD/VKzuMXpXFqJW9twCPMxcCPIzetVTJFa7sX86hhPa1owJNpu7F/GlG9KqfsoFSupsWwIwqnueNdpDpe5tNWtNCmq8DyoJiNdI0j5tVI0y8bmZ+uMI/Vw+2NB2e2TVpGF60No0aqW3Ie+siKfecW00185boWBNvmudVyM+y3gtaW2+vOhW3hl7kLyZ1jRjR05Jf0aQbclcNYyp0DJIYobhmhBLOjN6WZEKETEFoSZ2jRhLizHI32b0jnMJZKHBtZ1Q9sq4syhIH7bzOSeMHg0GZpHsGkBcj+PuwqjiyuQ1zQI7DWaht9qdXX/5TIZf9gmm14nAo2y+OOoyLDXA89xc2d+DnQLwBW01K2BTFG/DB2zkUvxS/HJyCA1yfg+8WAGmC1MooMQ4XRf3OJhncjhHT3Iu8fr2RXTvV3SHK39XjMeqfFh/vxWADe+mThM2radXRcSqLrL3qeCOGDC4g68Z+n0B5icza8Z7J01mXwFdChXgzO64azTc1TvPoJOT59L6xioXEbkDcis4Nk1xEp9FtWRR1o7XgodXbdYb90CgHtcO0MBJY6qlljhhHvLdr88IDG/mbptgcHbwoJ/e1cmdLP2vfRemhfHHZynEcymmNiRXSyyFk6NTNMZtr4bkEsFJwZQxP1mb26tyOYT6lc2JonApBLSFcJgZiDmtphRHW6wtoUZUImyoCzsaaGYp/vwEz+A3qg7fntoRHbAa3ZejNwGMlr43jTHpCDbeCy32re5pWXoffJzj+OPU9L0SncBFbwoCkDDiVVMQy4esr6ho+1Unxad5bYgnExMCkTqwWRHotxZDF9D0qpbVrV2XBYfN4U9ZoBBjEmgtva9vKMu7YBejGC98OQyvqwp7tyTG+4YuP+ZNmLfrVWFhqXKemvRQCPfcNSoG7Zu9NsjAalLOKK0l9IqXSTKv1oXx1wxcnjlrqNWc0dgQjjZCDNny4En5SF3PL4noWg7UVy4CMbDlcb7MMRBby872DaC163A3+wULHJla6i9gx5fP0K+ElwaMPET/D5cMJtL7DuMbbecmwWKeeeRecnSMNi3PqvHfBecvXdpY/pOLeCZ1IpYSWkMSKbZs/VGKc1pooxSSzVBMh4/tXTFjrWgXKKOmst4ZTwsg3XjENGoL/nxUfW1YcbMtv+92Q4fb8NqnE77/htzYOb73bt3ma3kn+3Ely21nm2SjT6JQynTCBaUEwRS1xzG6ZaQzDdpoomliWxFbgr12/J7aapMXW3Cax0w4SwUBqR/a+v9Js3fe+/Eg3s2Yk6AtyplDTSgCmdKoN4bFZv4H8h/qwuPq73v9yd7XhJ6Ad9Fc9p6e3SD9MN7Dxd611kXmK+aZ97KwjsNonymvJqZAGVGxJTO9fvluvCaQxl8QTpiCRGK+XO3l/dOVVO6g9FUoyzYThSjmeqtgPfNRm8XmOB/p2vAzEceOpu3b/M8g7v56LAF/PAg1wKuh57tsoA2nd6Ww0xnerqQandz+HZh4y/zpxq3ND1yo9DWfn9ZI4hxES6jCCJ83poe8JxZ93hDxrf7rQd+P91cj5/pDHC5F3YbsNNksSQVXbsj7uT9utyAZrtYR+kfs7E6Lsez5HaJPk9ALqjwC3ctOSWofO1jq79thGuzv/YLGG54cu6qbGeEOZ0NIQZmKhyOPZNNn718rBoJygiwUXxvbLv778s1h5PGfITYPV384fz4mlCntxNPcjFKXeaP/ir607PJAeO890jgnvU+x3ZGwdMbH22+63IjklJbZQLMEGm1Bi1PrGemnBBsIZQxTWa8rFWAJqZ1YUbIM2wI/+TMdCObocBdoxJgRRJPbKG+03WcTVdpFqZQWPuQBmJGGJJ9J/Cyu5lU9/G4t4U4TesWcOeP9QFpNxq2MJmIJVgsr3kuFacEPaz+mh+jF4bML61qwlsqhSLyZ1NbYOTmwOC+q0tv/14NfURe1/WURfC7//AqXH77LeMQAA&quot;"/>
    <we:property name="creatorSessionId" value="&quot;8adafc8e-79b5-442b-b318-2eeb1b8f1cbb&quot;"/>
    <we:property name="creatorTenantId" value="&quot;461fd7ef-0eb3-4420-b044-310dc2914d64&quot;"/>
    <we:property name="creatorUserId" value="&quot;10032000A58DD674&quot;"/>
    <we:property name="datasetId" value="&quot;27cdccec-381d-4b4e-ac7e-6e91eab4a6aa&quot;"/>
    <we:property name="embedUrl" value="&quot;/reportEmbed?reportId=801fad83-a647-4f04-873a-1f74089a69f7&amp;config=eyJjbHVzdGVyVXJsIjoiaHR0cHM6Ly9XQUJJLVNPVVRILUNFTlRSQUwtVVMtcmVkaXJlY3QuYW5hbHlzaXMud2luZG93cy5uZXQiLCJlbWJlZEZlYXR1cmVzIjp7InVzYWdlTWV0cmljc1ZOZXh0Ijp0cnVlfX0%3D&amp;disableSensitivityBanner=true&amp;storytellingChangeViewModeShortcutKeys=true&quot;"/>
    <we:property name="initialStateBookmark" value="&quot;H4sIAAAAAAAAA+Vb627bOhJ+FUPAortAGvAiiWL/5dbdgzY9QVK0WyyCA15GCc/Kko8kp0mLvNC+xr7YDiU7aeKL3Di+5CyQH7ZIz3wz/DicGSrfA+uqQaZuPqg+BG+CX3LrjLJF2ZPBTpC3D/d//fXd8d7pu98+7B0f4eNiULsir4I334NalRdQf3LVUGVeBD781/lOoLLsRF34b6nKKtgJBlBWRa4y9w3ayThUl0O43QngepAVpfIiz2pVgxd7hdPxO+qmuxw1KlO7KzgDU7dPpRGCRXFKJOFScc5EonFa1U5okE2d4kU36g+KvFYuRzX+GRVJSgyVglmhYxFGoWD+eeXyi2wE+P63H28G3is1XNe6uPb+0L+jYi/p9hYNoomUVHFhDRCpJU0I053SVIN8f1jXaOCESBaGwqhYKhKDCpVRMlxaZGxVypkhCVeWGsUglkuK5BSM1tyEVCcRtUQQIbyI1GX1yNP65uh6UCJJkDqtyD17pXIDNmiYUELVLvz34BhUNSwbOhw9GDgrhqWBU0ibobx29Q3KOQbrrKoCD+SkLJBwzeMvxZfeKRhwter9pRm8LL4elIBEs8EbcnuOT+aabFRpH5qKX0oL5f5NY8ahK8e0ZDuPkK7GBMTsnc2jJGbWMGOJhTBGZnRzdv76hamyUWxQqCEQM0OphM71O0BPXhQlRo1sYgkPimzYzxc13x6oXLkJ8/OiD78ZHMqmLN/Oung0XoD37o8hjm8SyrEq/w117+xSlTCV02tD4pnZiaZzh1VG1civA5RQP95pbeBHlb//ENr/2fBvRc48b7ZCJAmGsDS2CYkoNXFsQ7vk7hLcGMmjSIccjFQxyHjbd1f30mXOQPnA1qAPmBL4D1bVqrFl0Kpz0I4XthmGxtTvwXuH5reyP6ls6MW+OsRf2OJr/sqHu1HAm0qF5hdVo+X53dFSQSSU84QQwYjSTBEmDOmkgutj+jOFAwkNZWxCIZKYKEIYiUynrOpSDabK4jYKVapDhvmABSZivU4+odfssC4mXGhGKubHyDUA6avSbBxE5vLLjYNoWD1oB//PtvkiLD1vqxCVV+MapFVVFlnzaaweC5sMriBrR/8YQnmD+poZd3p27wXjdFch3EwNKu9oX+/gIwsNuHdwszqDvOYTl+djtZ5uM/C2u2S9WMc782dwthtpvTjHm/dncD7YazPgPpSFk8qiqD2ksSF3fD8f7YokTHhsuT85OFa0lmDdts5g/xlFlVjLZ8e+4O8/dtRRrQYbzYk/vz3uve6dgIWq3myhMEJSVA7j2LRou2YkH+BCbQeSfVWWqreXF71fcmfcNizTPaS37okpsGk20mTxcn9AfiuK/pQD8srv8WOXdxyS9DBo0r1m+pn71nWoUhmHEYv5rpAikhIzzcMfTtcZnQv6uHOxmvDgQ93U830UqW6eErwX1N0m84nBsosnkhBNNERGiYh2xtHnoiLWHBnkVpWueIzSU/CvLVX/tuVdqsWtaCknCWdpxA3XEqsoyyJD4s6aZ2ZzVTKu01QkCdeUAItUxMWShblkysrQICOkIKAJhaS7wJsNUOmEAcJSoUaISlhKNnJSjzpWW3hUb81JjUAwbBbllhzXd3C248zeviP7z3liM5EwRmm469tBoYxZtM4TuyNMrPbI7lDentnSWsZsYiJMbSLOhJR82csvmZIQqEgjzWkS29goOycNGF2Dvm0GE0tDEbOEhZILYXgqIk/4VfRr5xyzE7ynq+kozQZxqOppx8hyvaQLyNvdMbH32pV5+OnT+JYYU5q35WjLji6y/ZpMNWMnaIEQz+zPl+DDUsPg3Lp65Iy9vGn2v4e0bn3WH+Bvq7EHx9/eOT8Pld9PXMC57ZcG4iyXnrqLy3pGtLDo6dr14RUjLHxNKP59JORN89f20X74/XzkfHPIo6nI25jXxJwZXUXMGcr6cPSWwJyY2ukl3Be5/WlBlL3mE4IW6XTuQ/0V4EGjc0WBvXPHzozoy9yldOhsA7lKBIbMiBMSS2bBhNp2337MD+QKU/aQYCjXIoooChZ8rZdqp3DhCpjS4DRlUZY4qOYncauH0vQjZyL5M7f+F1yb1Tj6Oe4URop2HyBeTQd8MV8t0AcfY/7RG8t3wXcCc+kyW0LeGDcxYTrHzobZqzHqj8UFkvxO2ZhxUoQRtRBxYTGK2JDYjb+x1Laxevvl8OW+sjRhw8jdNuKGKRInMk40A42O37S7/TssB5fDMn+pvn5oQOtoHcaGEBoSQSJiEqusYpt29It28oSDTWxEEgqbaK4kCSnTZuMOxoK6GNa9o2swwxntoye42guxCRCmBQECUhtLE27CzsxtZovUKhVzTiGOIw2URiZi3dLm54EgINXCEEwxUbiJke8bX4/R23E+EL5Q1j+yoKU+gCC+uS0SRU1EFFF22VfjUkUMMSI1RqskYTQxpDuL3/gLny9gASeNaNcw1WnKMdthllsDLDQmsk93+EobWyuqlmaDOIM+VDW6fuNIPpZuW6Ac//c/VU/pEq6edgPwnKuj8ifeXz1fV6Pj5caNh6b1Q/nylACZuRwWf+17mRuHBQh13vZOH/1/0N/LYjho1DMltMU0Q0qmGZGaStPcY7vqH85aX5k2pWUjZFqzBFOzaqAMnKgcpjRNmmaBBRvMb5w0/08VjJE6nXV1Wjyoux7L7e3/ACEjMgfxNQAA&quot;"/>
    <we:property name="isFiltersActionButtonVisible" value="true"/>
    <we:property name="isVisualContainerHeaderHidden" value="false"/>
    <we:property name="pageDisplayName" value="&quot;Canal/Região&quot;"/>
    <we:property name="pageName" value="&quot;0daeb79f5d9b2db7cec8&quot;"/>
    <we:property name="pptInsertionSessionID" value="&quot;7D983F5B-D527-48A0-AF36-C039D3BDB532&quot;"/>
    <we:property name="reportEmbeddedTime" value="&quot;2026-04-23T15:30:25.445Z&quot;"/>
    <we:property name="reportName" value="&quot;SalesInsights_RenanSantos&quot;"/>
    <we:property name="reportState" value="&quot;CONNECTED&quot;"/>
    <we:property name="reportUrl" value="&quot;/groups/me/reports/801fad83-a647-4f04-873a-1f74089a69f7/0daeb79f5d9b2db7cec8?experience=power-bi&amp;pbi_source=storytelling_addin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593D9314-3B9D-499F-B7AF-B8F72AE4CA3D}">
  <we:reference id="wa200003233" version="2.0.0.3" store="pt-BR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5F7F9&quot;"/>
    <we:property name="bookmark" value="&quot;H4sIAAAAAAAAA+1b/27bOBJ+lUDAoXeAt6BIiRT7X5N27w7b7mWToIfFoTiMyLHDXVnySnLaXOAH2ue4FzuSshzHP2KnVm33NkgQWCQ98/HjcGY4VO4CbapRBrc/whCDV8Hfc20U6KI8kUEvyJtGlhIdRhIJ4TKmRKooRttbjGpT5FXw6i6ooRxg/cFUY8icJNv4r4+9ALLsHAbuqQ9Zhb1ghGVV5JCZ/2Az2HbV5RgnvQA/j7KiBCfysoYandgbO9w+WwjhS2Y1gqrNDV6iqptWTpmUPBaxFESEEQBPHOyqGeCRrRziRHv1Z0Veg8mtGtdGOGFapDRJCIQk1joKhWuvTD7IpoDvv3t1O3LkVNcw8mykv1i1Ts5kYqcTSkkkVVJimmjBwoQrP6W+yeqpuvT27edRaZm6a4kWVEjKU4Ic0xgJEA7Ciq4bTWeWlUFR2vXJbGMjyMn50LJEe8H3ZTH0Eqfrqe3It3lt6lv3cAYZ5hpKU9jmBj+Z2HX65zWW6L9mCdGmYffOGoP760BiVTWE+iHZeLjQ454ui3Gp8AL79w8egGPjvCzs0nsQr/PCNlmlHyAbe0OxMt8ZO5eGXN9sx1FCo3du5EfL58fGQOa0bYVi5cxX4ukF18WnsxItxTp4FU56d6tZ3wmE1arHdVEtQshMfg1LIMh+QaipioMDGUKpDg4iL4b471HT+SiW1/oGcoV6Cch7hGpc4rZI3qM2GpZw/Fz8fHKBCk0NJ39aAcRtjEfd08jcFPUVpNmCj2qdqdX1y5y7bOh7wkbf3rrtlr8oPnUqet5mpy4C8qqNII2qssj8p0a5BZHhDWZN329jLG+tNt8/0/LyXqwdbioLNoNR5Qh3sco2afTQfsDbrzcdp/nc5Hmr1tncGrzNjtkv1naXPgXng021Bu5DWXZQWRS1g9ROZBY2Pro1d5FWJTyWUaSJDfAiJDIh0cZI249VKBMpVcyUjEUquU7uI+1VMfpx6xBbjVM/XxdpHzLadtjPP7Uftg/WM+bvQ3VvNnQ4P7T1HQ9i+iVmdl93EbEf+sJeC6FvMLNjrap/lBrL01uv640p2/SMLhKynUucARkuAmkd4Tvz29hOOJh487OLZSM28VlXM386R9RGTvec/iwEFoffO+e1EmbmNZl0kQgde8B7704Sw5PTcrwm4h1N6N0bkA9uhfGQCK6M+hXrk/f//V2bg1rHsgd4ckKUQnl2DWW9mA4VnTqxp0/EuYLVKVmTFdx2Gb0XvZB3nhFDSRhoJYESncoQxCOBtOMFf/yEdvLnhse/fMmKKyj1nlZ7+1k0uUukKKdCUUu5jiKSJGnE90b5U93NMRG9CXtDbxwpAjwhjCjNo5RpQUiwqaBjhjBYUdCJY+SCgUqREI2Kp3azbJQFfrqn47q2k1kWyQkHQvsJ5SAFQ04SOPTq73zgPLwRLE6hsQXOOFWKyRiFUiJNwhjijWQ/1132DOIoSmEbcuGNW6DKjLLnxvlNEAzR5rXug4YavImNGoUGm/5C+270FriyIvrijf2GLj7lL9qzwLoqzuyMfJhKy1T9c63lgLWWZiPtF+dcpe/ANSGJTHBQUhJB0hB5rMPw0JG1g7PL4WPrqnOLd0NxGEWoE0XjmEkFEaGwY3aURiD6IDFOhJXMKQtT3FWk4qGVgkCUNQwRMQJkvVlMS4Xf+85Eh5HgNKGRZEIo1hexXnc19+3fVK0H8caFr65j4gDzJtgthcX7Euwe7jtf59qHXuzXDWfDkf1u1TLYPv1g3Dir/H7gTiXBGaUXZnBdrwn+Nm3A2gzxhbsX/Y6E9veKkFf+t8kH5r7/OHJ2OOTxSuSNE/FxY012VNVQ1m+mbwU8kiJtZMnui1w/WVBIv2NLgrbJ2E6x/oT4IGFb46/DRX/d9Y5dW1/68mRxo86mrqRCHUsgOmZaSZoSIdUjXvdYgvHz5fvzIXCXQ6BGZf1uUfnoclViO+7o0rc1bsFqycDkp53WnR/YefdG270Ffr2K+4Yz9D39z8fo52N0J8forwR3+Ub7KQd2mx5cm0yXmHtMSwPW5FVFVlQneHKZg/q1etGqvSoG1iHPZvxFks0wLboUeF7i0IyHq0VaP+B+msxQxSRFxQUBzllISZywZGOe1OmhLwezenmV7cr+YKXQLeiY5reYxAkhIiUAXKUASciC3QoVmgsdMexzyqmWlEgSHcVlhdFbvSNy+PTsiN5I+AO+OnP8b6xsdFy1eyvr7efjS9e9e0j7MUMmmUCZYkhFCHpHj4NhCCJOCQdFUys6UlTt0+Nc4MAUuCJnU2VRlrYT9uZy1kDxHmctkv/nSLjd2nRxLTjV9PKB6K+Tzm45qc05eIt53j46u8hCoJqmnKWKRBECguCbt+Wh48w3cI+1NIeG7n4YM6Hifsgt4UmiU052TeX6EVFagtTICEaaCCY3p3J7eMlnysA3un4LM5iunl06jIBKjELKaBrrPb7A+AjQJh36lqmem8H00LPw/5N/LYvxyDOs+tgnQmhJBI0l4wChXwRT/c1o7c7O3vl5IatCYTGuqxEoPIccV4REH2E06g1h0f+/6SwiTib/Ayk8jeDoOgAA&quot;"/>
    <we:property name="creatorSessionId" value="&quot;8adafc8e-79b5-442b-b318-2eeb1b8f1cbb&quot;"/>
    <we:property name="creatorTenantId" value="&quot;461fd7ef-0eb3-4420-b044-310dc2914d64&quot;"/>
    <we:property name="creatorUserId" value="&quot;10032000A58DD674&quot;"/>
    <we:property name="datasetId" value="&quot;27cdccec-381d-4b4e-ac7e-6e91eab4a6aa&quot;"/>
    <we:property name="embedUrl" value="&quot;/reportEmbed?reportId=801fad83-a647-4f04-873a-1f74089a69f7&amp;config=eyJjbHVzdGVyVXJsIjoiaHR0cHM6Ly9XQUJJLVNPVVRILUNFTlRSQUwtVVMtcmVkaXJlY3QuYW5hbHlzaXMud2luZG93cy5uZXQiLCJlbWJlZEZlYXR1cmVzIjp7InVzYWdlTWV0cmljc1ZOZXh0Ijp0cnVlfX0%3D&amp;disableSensitivityBanner=true&amp;storytellingChangeViewModeShortcutKeys=true&quot;"/>
    <we:property name="initialStateBookmark" value="&quot;H4sIAAAAAAAAA+Vb627bOhJ+FUPAortAGvAiiWL/5dbdgzY9QVK0WyyCA15GCc/Kko8kp0mLvNC+xr7YDiU7aeKL3Di+5CyQH7ZIz3wz/DicGSrfA+uqQaZuPqg+BG+CX3LrjLJF2ZPBTpC3D/d//fXd8d7pu98+7B0f4eNiULsir4I334NalRdQf3LVUGVeBD781/lOoLLsRF34b6nKKtgJBlBWRa4y9w3ayThUl0O43QngepAVpfIiz2pVgxd7hdPxO+qmuxw1KlO7KzgDU7dPpRGCRXFKJOFScc5EonFa1U5okE2d4kU36g+KvFYuRzX+GRVJSgyVglmhYxFGoWD+eeXyi2wE+P63H28G3is1XNe6uPb+0L+jYi/p9hYNoomUVHFhDRCpJU0I053SVIN8f1jXaOCESBaGwqhYKhKDCpVRMlxaZGxVypkhCVeWGsUglkuK5BSM1tyEVCcRtUQQIbyI1GX1yNP65uh6UCJJkDqtyD17pXIDNmiYUELVLvz34BhUNSwbOhw9GDgrhqWBU0ibobx29Q3KOQbrrKoCD+SkLJBwzeMvxZfeKRhwter9pRm8LL4elIBEs8EbcnuOT+aabFRpH5qKX0oL5f5NY8ahK8e0ZDuPkK7GBMTsnc2jJGbWMGOJhTBGZnRzdv76hamyUWxQqCEQM0OphM71O0BPXhQlRo1sYgkPimzYzxc13x6oXLkJ8/OiD78ZHMqmLN/Oung0XoD37o8hjm8SyrEq/w117+xSlTCV02tD4pnZiaZzh1VG1civA5RQP95pbeBHlb//ENr/2fBvRc48b7ZCJAmGsDS2CYkoNXFsQ7vk7hLcGMmjSIccjFQxyHjbd1f30mXOQPnA1qAPmBL4D1bVqrFl0Kpz0I4XthmGxtTvwXuH5reyP6ls6MW+OsRf2OJr/sqHu1HAm0qF5hdVo+X53dFSQSSU84QQwYjSTBEmDOmkgutj+jOFAwkNZWxCIZKYKEIYiUynrOpSDabK4jYKVapDhvmABSZivU4+odfssC4mXGhGKubHyDUA6avSbBxE5vLLjYNoWD1oB//PtvkiLD1vqxCVV+MapFVVFlnzaaweC5sMriBrR/8YQnmD+poZd3p27wXjdFch3EwNKu9oX+/gIwsNuHdwszqDvOYTl+djtZ5uM/C2u2S9WMc782dwthtpvTjHm/dncD7YazPgPpSFk8qiqD2ksSF3fD8f7YokTHhsuT85OFa0lmDdts5g/xlFlVjLZ8e+4O8/dtRRrQYbzYk/vz3uve6dgIWq3myhMEJSVA7j2LRou2YkH+BCbQeSfVWWqreXF71fcmfcNizTPaS37okpsGk20mTxcn9AfiuK/pQD8srv8WOXdxyS9DBo0r1m+pn71nWoUhmHEYv5rpAikhIzzcMfTtcZnQv6uHOxmvDgQ93U830UqW6eErwX1N0m84nBsosnkhBNNERGiYh2xtHnoiLWHBnkVpWueIzSU/CvLVX/tuVdqsWtaCknCWdpxA3XEqsoyyJD4s6aZ2ZzVTKu01QkCdeUAItUxMWShblkysrQICOkIKAJhaS7wJsNUOmEAcJSoUaISlhKNnJSjzpWW3hUb81JjUAwbBbllhzXd3C248zeviP7z3liM5EwRmm469tBoYxZtM4TuyNMrPbI7lDentnSWsZsYiJMbSLOhJR82csvmZIQqEgjzWkS29goOycNGF2Dvm0GE0tDEbOEhZILYXgqIk/4VfRr5xyzE7ynq+kozQZxqOppx8hyvaQLyNvdMbH32pV5+OnT+JYYU5q35WjLji6y/ZpMNWMnaIEQz+zPl+DDUsPg3Lp65Iy9vGn2v4e0bn3WH+Bvq7EHx9/eOT8Pld9PXMC57ZcG4iyXnrqLy3pGtLDo6dr14RUjLHxNKP59JORN89f20X74/XzkfHPIo6nI25jXxJwZXUXMGcr6cPSWwJyY2ukl3Be5/WlBlL3mE4IW6XTuQ/0V4EGjc0WBvXPHzozoy9yldOhsA7lKBIbMiBMSS2bBhNp2337MD+QKU/aQYCjXIoooChZ8rZdqp3DhCpjS4DRlUZY4qOYncauH0vQjZyL5M7f+F1yb1Tj6Oe4URop2HyBeTQd8MV8t0AcfY/7RG8t3wXcCc+kyW0LeGDcxYTrHzobZqzHqj8UFkvxO2ZhxUoQRtRBxYTGK2JDYjb+x1Laxevvl8OW+sjRhw8jdNuKGKRInMk40A42O37S7/TssB5fDMn+pvn5oQOtoHcaGEBoSQSJiEqusYpt29It28oSDTWxEEgqbaK4kCSnTZuMOxoK6GNa9o2swwxntoye42guxCRCmBQECUhtLE27CzsxtZovUKhVzTiGOIw2URiZi3dLm54EgINXCEEwxUbiJke8bX4/R23E+EL5Q1j+yoKU+gCC+uS0SRU1EFFF22VfjUkUMMSI1RqskYTQxpDuL3/gLny9gASeNaNcw1WnKMdthllsDLDQmsk93+EobWyuqlmaDOIM+VDW6fuNIPpZuW6Ac//c/VU/pEq6edgPwnKuj8ifeXz1fV6Pj5caNh6b1Q/nylACZuRwWf+17mRuHBQh13vZOH/1/0N/LYjho1DMltMU0Q0qmGZGaStPcY7vqH85aX5k2pWUjZFqzBFOzaqAMnKgcpjRNmmaBBRvMb5w0/08VjJE6nXV1Wjyoux7L7e3/ACEjMgfxNQAA&quot;"/>
    <we:property name="isFiltersActionButtonVisible" value="true"/>
    <we:property name="isVisualContainerHeaderHidden" value="false"/>
    <we:property name="pageDisplayName" value="&quot;Produtos&quot;"/>
    <we:property name="pageName" value="&quot;623996575970714aa689&quot;"/>
    <we:property name="pptInsertionSessionID" value="&quot;7D983F5B-D527-48A0-AF36-C039D3BDB532&quot;"/>
    <we:property name="reportEmbeddedTime" value="&quot;2026-04-23T15:30:25.445Z&quot;"/>
    <we:property name="reportName" value="&quot;SalesInsights_RenanSantos&quot;"/>
    <we:property name="reportState" value="&quot;CONNECTED&quot;"/>
    <we:property name="reportUrl" value="&quot;/groups/me/reports/801fad83-a647-4f04-873a-1f74089a69f7/623996575970714aa689?experience=power-bi&amp;pbi_source=storytelling_addin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</TotalTime>
  <Words>1284</Words>
  <Application>Microsoft Office PowerPoint</Application>
  <PresentationFormat>Widescreen</PresentationFormat>
  <Paragraphs>125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Bimbo - Dashboard Sales Insights</dc:title>
  <dc:subject>PptxGenJS Presentation</dc:subject>
  <dc:creator>Renan Santos Ferreira</dc:creator>
  <cp:lastModifiedBy>Renan Santos Ferreira</cp:lastModifiedBy>
  <cp:revision>17</cp:revision>
  <dcterms:created xsi:type="dcterms:W3CDTF">2026-04-21T00:53:50Z</dcterms:created>
  <dcterms:modified xsi:type="dcterms:W3CDTF">2026-04-23T18:06:34Z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ba52d44-af58-4f66-8659-3c1b8d659d72_Enabled">
    <vt:lpwstr>true</vt:lpwstr>
  </property>
  <property fmtid="{D5CDD505-2E9C-101B-9397-08002B2CF9AE}" pid="3" name="MSIP_Label_3ba52d44-af58-4f66-8659-3c1b8d659d72_SetDate">
    <vt:lpwstr>2026-04-23T15:21:36Z</vt:lpwstr>
  </property>
  <property fmtid="{D5CDD505-2E9C-101B-9397-08002B2CF9AE}" pid="4" name="MSIP_Label_3ba52d44-af58-4f66-8659-3c1b8d659d72_Method">
    <vt:lpwstr>Privileged</vt:lpwstr>
  </property>
  <property fmtid="{D5CDD505-2E9C-101B-9397-08002B2CF9AE}" pid="5" name="MSIP_Label_3ba52d44-af58-4f66-8659-3c1b8d659d72_Name">
    <vt:lpwstr>3ba52d44-af58-4f66-8659-3c1b8d659d72</vt:lpwstr>
  </property>
  <property fmtid="{D5CDD505-2E9C-101B-9397-08002B2CF9AE}" pid="6" name="MSIP_Label_3ba52d44-af58-4f66-8659-3c1b8d659d72_SiteId">
    <vt:lpwstr>461fd7ef-0eb3-4420-b044-310dc2914d64</vt:lpwstr>
  </property>
  <property fmtid="{D5CDD505-2E9C-101B-9397-08002B2CF9AE}" pid="7" name="MSIP_Label_3ba52d44-af58-4f66-8659-3c1b8d659d72_ActionId">
    <vt:lpwstr>039902bb-589b-487d-8dfa-961f471e4f64</vt:lpwstr>
  </property>
  <property fmtid="{D5CDD505-2E9C-101B-9397-08002B2CF9AE}" pid="8" name="MSIP_Label_3ba52d44-af58-4f66-8659-3c1b8d659d72_ContentBits">
    <vt:lpwstr>2</vt:lpwstr>
  </property>
  <property fmtid="{D5CDD505-2E9C-101B-9397-08002B2CF9AE}" pid="9" name="MSIP_Label_3ba52d44-af58-4f66-8659-3c1b8d659d72_Tag">
    <vt:lpwstr>10, 0, 1, 1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This content is Internal.</vt:lpwstr>
  </property>
</Properties>
</file>